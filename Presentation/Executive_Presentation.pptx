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Public Sans Bold" panose="020B0604020202020204" charset="0"/>
      <p:regular r:id="rId15"/>
    </p:embeddedFont>
    <p:embeddedFont>
      <p:font typeface="Public Sans SemiBold" panose="020B0604020202020204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  <p:embeddedFont>
      <p:font typeface="Source Sans 3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61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741"/>
            <a:ext cx="685782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2" dirty="0">
                <a:solidFill>
                  <a:srgbClr val="2747A5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SwiftLog Logistics Limited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79421"/>
            <a:ext cx="6400640" cy="1476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b="1" kern="100" spc="-6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SwiftLog Logistics:</a:t>
            </a:r>
            <a:endParaRPr lang="en-US" sz="3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3800" b="1" kern="100" spc="-6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Supply Chain Intelligence &amp; AI Transformation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2479973"/>
            <a:ext cx="2112116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751435"/>
            <a:ext cx="6400640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Analytics, Feature Engineering, and Operational Optimization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189" y="5318522"/>
            <a:ext cx="685782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Dorian NJAMI</a:t>
            </a: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Certified Data Scientist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89" y="5797550"/>
            <a:ext cx="64006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AnalystLab Africa Lab Internship · Week 5 Data Science Project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Integrated Relational CSV Datasets | 5,000 Orders | 1,000 Customers | 15 Warehouses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206" y="1447800"/>
            <a:ext cx="3962301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Executive Overview &amp; Operational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405037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SwiftLog manages nationwide fulfillment, inventory tracking, and customer deliveries across Nigeria. Rapid scaling caused fulfillment friction, rising order cancellations, and delivery delays.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189" y="2172593"/>
            <a:ext cx="3555911" cy="186848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685783" y="2466640"/>
            <a:ext cx="3098722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600" b="1" kern="100" spc="-115" dirty="0">
                <a:solidFill>
                  <a:srgbClr val="252B2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32.5%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783" y="3085802"/>
            <a:ext cx="30987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Order Cancellation Rate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783" y="3523952"/>
            <a:ext cx="332731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1,626 / 5,000 orders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17892" y="2172593"/>
            <a:ext cx="3555911" cy="186848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1" name="Text 8"/>
          <p:cNvSpPr/>
          <p:nvPr/>
        </p:nvSpPr>
        <p:spPr>
          <a:xfrm>
            <a:off x="4546486" y="2466640"/>
            <a:ext cx="3098722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600" b="1" kern="100" spc="-115" dirty="0">
                <a:solidFill>
                  <a:srgbClr val="252B2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3.55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546486" y="3085802"/>
            <a:ext cx="30987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Days Average Transit Delay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46486" y="3523952"/>
            <a:ext cx="332731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hubs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78595" y="2172593"/>
            <a:ext cx="3555911" cy="186848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5" name="Text 12"/>
          <p:cNvSpPr/>
          <p:nvPr/>
        </p:nvSpPr>
        <p:spPr>
          <a:xfrm>
            <a:off x="8407190" y="2453729"/>
            <a:ext cx="3098722" cy="46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800" b="1" kern="100" spc="-95" dirty="0">
                <a:solidFill>
                  <a:srgbClr val="252B2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 = 0.0014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8407190" y="2988270"/>
            <a:ext cx="30987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Delay-Return Correlation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07190" y="3426420"/>
            <a:ext cx="332731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Statistically significant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189" y="5306616"/>
            <a:ext cx="7315017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10 relational tables into a Master Analytical Dataset of </a:t>
            </a:r>
            <a:r>
              <a:rPr lang="en-US" sz="160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287,320 merged records</a:t>
            </a: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Suppliers remained standalone to preserve relational integrity without synthetic data contamination.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6998" y="5078016"/>
            <a:ext cx="3657509" cy="1322784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0" name="Text 17"/>
          <p:cNvSpPr/>
          <p:nvPr/>
        </p:nvSpPr>
        <p:spPr>
          <a:xfrm>
            <a:off x="8305592" y="5306616"/>
            <a:ext cx="32003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34.3% Pending Orders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05592" y="5744766"/>
            <a:ext cx="34289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1,716 / 5,000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551"/>
            <a:ext cx="11277318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54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Multi-Dataset Integration &amp; Data Cleaning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07678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58354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607741"/>
            <a:ext cx="5049414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Joined 10 operational CSVs into one unified schema: Orders, Customers, Order_Items, Products, Shipments, Delivery_Perf, Warehouses, Inventory, Employees, Returns.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189" y="2639516"/>
            <a:ext cx="50494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Audit &amp; sanitize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189" y="3077666"/>
            <a:ext cx="5049414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 raw tables; 0% missingness at ingestion. 3 duplicate rows found in Inventory (sanitized).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189" y="3920034"/>
            <a:ext cx="50494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Standardize &amp; cap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189" y="4358184"/>
            <a:ext cx="5049414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title() and strip() across City, Category, Location, Return Reason. IQR capping on Quantity, UnitPrice, Stock, DelayDays.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189" y="5200551"/>
            <a:ext cx="50494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Resolve left joins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189" y="5638701"/>
            <a:ext cx="5049414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left-join return records imputed as “No Return”.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397" y="1326654"/>
            <a:ext cx="6176236" cy="46190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92286" y="6115645"/>
            <a:ext cx="531362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ERD · Orders linked to Shipments, Inventory, and Returns. Original image, unaltered.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189" y="3735884"/>
            <a:ext cx="5049414" cy="12700"/>
          </a:xfrm>
          <a:prstGeom prst="rect">
            <a:avLst/>
          </a:prstGeom>
          <a:solidFill>
            <a:srgbClr val="2747A5">
              <a:alpha val="24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57189" y="5016401"/>
            <a:ext cx="5049414" cy="12700"/>
          </a:xfrm>
          <a:prstGeom prst="rect">
            <a:avLst/>
          </a:prstGeom>
          <a:solidFill>
            <a:srgbClr val="2747A5">
              <a:alpha val="2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Baseline Logistics &amp; Fulfillment Profiling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405037"/>
            <a:ext cx="11734506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Geographic demand is evenly balanced: Ibadan (26.2%), Kano (25.3%), Lagos (24.6%), Abuja (23.9%).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2" y="1843030"/>
            <a:ext cx="5410217" cy="31865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783" y="5181997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status · Pending 34.3% | Delivered 33.2% | Cancelled 32.5%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959" y="1882378"/>
            <a:ext cx="5366953" cy="29408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76838" y="4975622"/>
            <a:ext cx="502907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 · Late Delivery 37.0% | Wrong Item Shipped 32.6% | Damaged Goods 30.4%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1" name="Text 6"/>
          <p:cNvSpPr/>
          <p:nvPr/>
        </p:nvSpPr>
        <p:spPr>
          <a:xfrm>
            <a:off x="685783" y="5959872"/>
            <a:ext cx="1104872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 90% of returns stem from internal operational errors: packaging, picking, and transit speed, not customer preference.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551"/>
            <a:ext cx="11277318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54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Category Revenue Contribution &amp; Inventory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07678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58354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379141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led by </a:t>
            </a:r>
            <a:r>
              <a:rPr lang="en-US" sz="160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Fashion (NGN 154.08M)</a:t>
            </a: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then Food (NGN 132.53M) and Electronics (NGN 124.44M).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3" y="2086769"/>
            <a:ext cx="5029074" cy="3116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783" y="5288558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10 · Revenue by category, unaltered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2086769"/>
            <a:ext cx="5029074" cy="3116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76838" y="5288558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11 · Inventory across warehouses, unaltered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57189" y="5914033"/>
            <a:ext cx="541006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prices range from NGN 11.78 to NGN 496.61; mean NGN 260.62, median NGN 258.78.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24442" y="5914033"/>
            <a:ext cx="541006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Median inventory: 253 units per SKU-warehouse pair, from 0 (stockouts) to 500 units.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089498" y="5914033"/>
            <a:ext cx="12700" cy="486767"/>
          </a:xfrm>
          <a:prstGeom prst="rect">
            <a:avLst/>
          </a:prstGeom>
          <a:solidFill>
            <a:srgbClr val="2747A5">
              <a:alpha val="24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551"/>
            <a:ext cx="11277318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54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Hypothesis Testing: Facility &amp; Regional Uniformity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07678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58354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379141"/>
            <a:ext cx="54100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H1 · Delivery across warehouses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189" y="1817291"/>
            <a:ext cx="541006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One-Way ANOVA: F = 0.7181, p = 0.7581. Fail to reject H0: delays do not vary significantly between warehouses.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189" y="3028752"/>
            <a:ext cx="54100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H2 · Returns across categories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189" y="3466902"/>
            <a:ext cx="541006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Chi-Square: chi2 = 0.5452, p = 0.9089. Fail to reject H0: return frequency is independent of category.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189" y="4678462"/>
            <a:ext cx="54100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H3 · Delays across regions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189" y="5116612"/>
            <a:ext cx="541006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One-Way ANOVA: F = 0.2420, p = 0.7851. Fail to reject H0: Lagos 3.59 days, Abuja 3.55, Kano 3.55.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1607741"/>
            <a:ext cx="4952876" cy="3650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36" y="5486797"/>
            <a:ext cx="518147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12 · Average shipment delay by regional hub, unaltered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189" y="6112272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Systemic nationwide operational friction, not isolated facility mismanagement.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189" y="2819202"/>
            <a:ext cx="5410065" cy="12700"/>
          </a:xfrm>
          <a:prstGeom prst="rect">
            <a:avLst/>
          </a:prstGeom>
          <a:solidFill>
            <a:srgbClr val="2747A5">
              <a:alpha val="24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57189" y="4468912"/>
            <a:ext cx="5410065" cy="12700"/>
          </a:xfrm>
          <a:prstGeom prst="rect">
            <a:avLst/>
          </a:prstGeom>
          <a:solidFill>
            <a:srgbClr val="2747A5">
              <a:alpha val="2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Empirical Proof: Delay-Return Causality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3" y="1633637"/>
            <a:ext cx="5313527" cy="4246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783" y="5965825"/>
            <a:ext cx="55421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13 · Return rate by shipment delay duration, unaltered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684994" y="1641177"/>
            <a:ext cx="50495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2" dirty="0">
                <a:solidFill>
                  <a:srgbClr val="2747A5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Key finding · H4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684994" y="1970335"/>
            <a:ext cx="5049513" cy="46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800" b="1" kern="100" spc="-95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 = 0.001398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6684994" y="2504877"/>
            <a:ext cx="50495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Delays vs returns · REJECT H0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684994" y="2943027"/>
            <a:ext cx="504951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Chi-Square: chi2 = 10.2084, df = 1; p &lt; 0.05.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684994" y="3310235"/>
            <a:ext cx="5049513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Shipment delays (DelayDays &gt; 0) have a statistically significant positive effect on product returns.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84994" y="4060329"/>
            <a:ext cx="5049513" cy="31651"/>
          </a:xfrm>
          <a:prstGeom prst="roundRect">
            <a:avLst>
              <a:gd name="adj" fmla="val 49998"/>
            </a:avLst>
          </a:prstGeom>
          <a:solidFill>
            <a:srgbClr val="2747A5">
              <a:alpha val="4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684994" y="4331791"/>
            <a:ext cx="50495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H5 · Order status across cities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84994" y="4769941"/>
            <a:ext cx="504951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Chi-Square: chi2 = 7.1980, df = 6, p = 0.3029. Fail to reject H0: cancellations (~32.5%) are uniform across cities.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Predictive Analytics &amp; 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405037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 domain-specific predictive features across 4 operational domains to power Machine Learning models.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189" y="1884065"/>
            <a:ext cx="5486263" cy="210591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660383" y="2087265"/>
            <a:ext cx="50798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Logistics &amp; Delivery Performance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0383" y="2525415"/>
            <a:ext cx="5079873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Delivery_Delay_Flag (binary delay indicator)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Delivery_Duration (3 + DelayDays)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Delivery_Efficiency_Score (100 / (1 + DelayDays))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48244" y="1884065"/>
            <a:ext cx="5486263" cy="210591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451439" y="2087265"/>
            <a:ext cx="50798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Customer Behavioral Value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51439" y="2525415"/>
            <a:ext cx="5079873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Customer_Lifetime_Value_Est (cumulative CLV sum)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Average_Customer_Spend &amp; Customer_Order_Frequency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Customer_Return_Frequency (normalized return rate per buyer)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189" y="4294783"/>
            <a:ext cx="5486263" cy="2106017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3" name="Text 10"/>
          <p:cNvSpPr/>
          <p:nvPr/>
        </p:nvSpPr>
        <p:spPr>
          <a:xfrm>
            <a:off x="660383" y="4497983"/>
            <a:ext cx="50798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Warehouse Operations &amp; Velocity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0383" y="4936133"/>
            <a:ext cx="507987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Warehouse_Total_Dispatches &amp; Warehouse_Utilisation_Rate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Inventory_Turnover_Est (Quantity / Stock)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48244" y="4294783"/>
            <a:ext cx="5486263" cy="2106017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6" name="Text 13"/>
          <p:cNvSpPr/>
          <p:nvPr/>
        </p:nvSpPr>
        <p:spPr>
          <a:xfrm>
            <a:off x="6451439" y="4497983"/>
            <a:ext cx="50798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Seasonality &amp; Demand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51439" y="4936133"/>
            <a:ext cx="507987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Order_Month, Order_DayOfWeek, Is_Weekend_Order, Monthly_Demand_Trend, Seasonal_Demand_Indicator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551"/>
            <a:ext cx="7213420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54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Customer, Product, &amp; Warehouse Segmentation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496219"/>
            <a:ext cx="6248244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030" y="1346895"/>
            <a:ext cx="863578" cy="330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767681"/>
            <a:ext cx="5727557" cy="45697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189" y="6423124"/>
            <a:ext cx="767060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6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Visuals 17–18 · Customer segmentation and product classification, unaltered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8584985" y="457200"/>
            <a:ext cx="3149521" cy="2446635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8" name="Text 4"/>
          <p:cNvSpPr/>
          <p:nvPr/>
        </p:nvSpPr>
        <p:spPr>
          <a:xfrm>
            <a:off x="8788180" y="609600"/>
            <a:ext cx="27431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Customers (1,000)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788180" y="1047750"/>
            <a:ext cx="2743131" cy="1703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VIP High-Value Buyers (331): CLV NGN 750k–1.75M, 6–15 orders, drives &gt;55% of revenue.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Mid-Tier (294): CLV NGN 400k–750k.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Low-Frequency (366): CLV &lt; NGN 400k, 1–6 orders.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584985" y="3208635"/>
            <a:ext cx="3149521" cy="1716484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1" name="Text 7"/>
          <p:cNvSpPr/>
          <p:nvPr/>
        </p:nvSpPr>
        <p:spPr>
          <a:xfrm>
            <a:off x="8788180" y="3361035"/>
            <a:ext cx="27431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Products ABC (250 SKUs)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788180" y="3799185"/>
            <a:ext cx="2743131" cy="9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 A (55): price &gt; NGN 200, revenue up to NGN 5.3M per SKU.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 B (87): NGN 1M–3M.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 C (108): &lt; NGN 1.5M.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584985" y="5115620"/>
            <a:ext cx="3149521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Warehouses (15)</a:t>
            </a: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High-Throughput Hubs (10): 330–370 dispatches; Balanced Hubs (4); Underutilized Facility (1).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917461" y="6528395"/>
            <a:ext cx="274234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Core Operational Bottlenecks Identified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1405037"/>
            <a:ext cx="5486263" cy="2345432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82" y="1684393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166" y="1684437"/>
            <a:ext cx="4317892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Cancellation Friction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1346166" y="2201962"/>
            <a:ext cx="431789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32.5% cancellation rate driven by pre-dispatch delays and out-of-stock events.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8244" y="1405037"/>
            <a:ext cx="5486263" cy="2345432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637" y="1684393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7221" y="1684437"/>
            <a:ext cx="4317892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Reverse Logistics Cost Driver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7137221" y="2201962"/>
            <a:ext cx="431789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Confirmed link between shipment delays and return rates (p = 0.0014).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57189" y="4055269"/>
            <a:ext cx="5486263" cy="2345531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82" y="4334625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46166" y="4334669"/>
            <a:ext cx="4317892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Fulfillment Process Errors</a:t>
            </a:r>
            <a:endParaRPr lang="en-US" sz="2300" dirty="0"/>
          </a:p>
        </p:txBody>
      </p:sp>
      <p:sp>
        <p:nvSpPr>
          <p:cNvPr id="16" name="Text 10"/>
          <p:cNvSpPr/>
          <p:nvPr/>
        </p:nvSpPr>
        <p:spPr>
          <a:xfrm>
            <a:off x="1346166" y="4852194"/>
            <a:ext cx="431789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63% of returns caused by wrong items shipped (32.6%) and damaged packaging (30.4%).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248244" y="4055269"/>
            <a:ext cx="5486263" cy="2345531"/>
          </a:xfrm>
          <a:prstGeom prst="rect">
            <a:avLst/>
          </a:prstGeom>
          <a:solidFill>
            <a:srgbClr val="F1F4F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637" y="4334625"/>
            <a:ext cx="406390" cy="406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37221" y="4334669"/>
            <a:ext cx="4317892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52B2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Network-Wide Capacity Imbalance</a:t>
            </a:r>
            <a:endParaRPr lang="en-US" sz="2300" dirty="0"/>
          </a:p>
        </p:txBody>
      </p:sp>
      <p:sp>
        <p:nvSpPr>
          <p:cNvPr id="20" name="Text 13"/>
          <p:cNvSpPr/>
          <p:nvPr/>
        </p:nvSpPr>
        <p:spPr>
          <a:xfrm>
            <a:off x="7137221" y="4852194"/>
            <a:ext cx="4317892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overloaded High-Throughput hubs with peak delays up to 3.8 days, alongside 1 underutilized facility.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11846819" y="6528395"/>
            <a:ext cx="344876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3197"/>
            <a:ext cx="1127731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58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Actionable Executive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133574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84250"/>
            <a:ext cx="863578" cy="33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1405037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486" y="1481237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530" y="1474887"/>
            <a:ext cx="4922119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Automated SLA Delay Alerts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 dispatches exceeding 2 days in transit to reduce returns (p = 0.0014)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046" y="1405037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86343" y="1481237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12387" y="1474887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VIP Loyalty &amp; Priority Dispatch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Expedited shipping for the 331 VIP buyers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189" y="2357338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486" y="2433538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530" y="2427188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Order Cancellation Mitigation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Pre-dispatch tracking surveys to reduce the 32.5% cancellation rate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046" y="2357338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6343" y="2433538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2387" y="2427188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Safety Stock Controls for Class A Items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reorder triggers for the 55 top revenue SKUs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189" y="3309640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486" y="338584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530" y="3379490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Standardized Protective Packaging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 the 30.4% damage return rate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72046" y="3309640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86343" y="338584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12387" y="3379490"/>
            <a:ext cx="4922119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Barcode Verification Scanning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Packing station scanners to eradicate picking errors (32.6% wrong items)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189" y="4261941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486" y="4338141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7530" y="4331791"/>
            <a:ext cx="4922119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Workforce Rebalancing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Reallocate staff from low-volume facilities to the 10 High-Throughput hubs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72046" y="4261941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86343" y="4338141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12387" y="4331791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National Logistics Infrastructure Standardization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Uniform SLAs across Lagos, Abuja, Kano, and Ibadan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189" y="5214243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486" y="5290443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97530" y="5284093"/>
            <a:ext cx="4922119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Supplier ERP Key Integration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 SupplierID to inventory batches for SLA enforcement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172046" y="5214243"/>
            <a:ext cx="437147" cy="355600"/>
          </a:xfrm>
          <a:prstGeom prst="roundRect">
            <a:avLst>
              <a:gd name="adj" fmla="val 17142"/>
            </a:avLst>
          </a:prstGeom>
          <a:solidFill>
            <a:srgbClr val="2747A5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86343" y="5290443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12387" y="5284093"/>
            <a:ext cx="4922119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B2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Predictive ML Integration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delay prediction models using Delivery_Efficiency_Score and Customer_Return_Frequency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1846819" y="6528395"/>
            <a:ext cx="344876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551"/>
            <a:ext cx="11277318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54" dirty="0">
                <a:solidFill>
                  <a:srgbClr val="2747A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Machine Learning Roadmap &amp; Predictive Capabilities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189" y="1107678"/>
            <a:ext cx="10312142" cy="31651"/>
          </a:xfrm>
          <a:prstGeom prst="roundRect">
            <a:avLst>
              <a:gd name="adj" fmla="val 49998"/>
            </a:avLst>
          </a:prstGeom>
          <a:solidFill>
            <a:srgbClr val="2747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829" y="958354"/>
            <a:ext cx="863578" cy="33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1582737"/>
            <a:ext cx="507987" cy="50800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6" name="Text 3"/>
          <p:cNvSpPr/>
          <p:nvPr/>
        </p:nvSpPr>
        <p:spPr>
          <a:xfrm>
            <a:off x="580812" y="1709738"/>
            <a:ext cx="8702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189" y="2171998"/>
            <a:ext cx="3454314" cy="1905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8" name="Text 5"/>
          <p:cNvSpPr/>
          <p:nvPr/>
        </p:nvSpPr>
        <p:spPr>
          <a:xfrm>
            <a:off x="457189" y="2312888"/>
            <a:ext cx="3454314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Delay Prediction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57189" y="2801838"/>
            <a:ext cx="34543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Predictive Delay Classification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189" y="3239988"/>
            <a:ext cx="3454314" cy="9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Gradient Boosting (XGBoost/LightGBM) on Delivery_Efficiency_Score and Warehouse_Utilisation_Rate to forecast delayed dispatches before carrier handover.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8691" y="1582737"/>
            <a:ext cx="507987" cy="50800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12" name="Text 9"/>
          <p:cNvSpPr/>
          <p:nvPr/>
        </p:nvSpPr>
        <p:spPr>
          <a:xfrm>
            <a:off x="4492314" y="1709738"/>
            <a:ext cx="8702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68691" y="2171998"/>
            <a:ext cx="3454314" cy="1905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14" name="Text 11"/>
          <p:cNvSpPr/>
          <p:nvPr/>
        </p:nvSpPr>
        <p:spPr>
          <a:xfrm>
            <a:off x="4368691" y="2312888"/>
            <a:ext cx="3454314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Return Propensity Scoring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368691" y="2801838"/>
            <a:ext cx="34543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Customer Return Propensity Scoring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368691" y="3525738"/>
            <a:ext cx="3454314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Regression/Random Forest to score return probability per transaction using Customer_Return_Frequency and DelayDays.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80193" y="1582737"/>
            <a:ext cx="507987" cy="50800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18" name="Text 15"/>
          <p:cNvSpPr/>
          <p:nvPr/>
        </p:nvSpPr>
        <p:spPr>
          <a:xfrm>
            <a:off x="8403816" y="1709738"/>
            <a:ext cx="8702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80193" y="2171998"/>
            <a:ext cx="3454314" cy="19050"/>
          </a:xfrm>
          <a:prstGeom prst="rect">
            <a:avLst/>
          </a:prstGeom>
          <a:solidFill>
            <a:srgbClr val="2747A5"/>
          </a:solidFill>
          <a:ln/>
        </p:spPr>
      </p:sp>
      <p:sp>
        <p:nvSpPr>
          <p:cNvPr id="20" name="Text 17"/>
          <p:cNvSpPr/>
          <p:nvPr/>
        </p:nvSpPr>
        <p:spPr>
          <a:xfrm>
            <a:off x="8280193" y="2312888"/>
            <a:ext cx="3454314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Automated Stock Forecasting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280193" y="3166963"/>
            <a:ext cx="34543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47A5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Demand Forecasting &amp; Replenishment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80193" y="3890863"/>
            <a:ext cx="3454314" cy="9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Time-Series XGBoost with Monthly_Demand_Trend and Seasonal_Demand_Indicator to adjust safety stock.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189" y="5258495"/>
            <a:ext cx="11277318" cy="1142405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4" name="Text 21"/>
          <p:cNvSpPr/>
          <p:nvPr/>
        </p:nvSpPr>
        <p:spPr>
          <a:xfrm>
            <a:off x="736582" y="5487095"/>
            <a:ext cx="10718532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SwiftLog is fully equipped with clean, engineered master datasets ready for production Machine Learning deployment.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1846819" y="6528395"/>
            <a:ext cx="344876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252B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1273</Words>
  <Application>Microsoft Office PowerPoint</Application>
  <PresentationFormat>Widescreen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Source Sans 3 SemiBold</vt:lpstr>
      <vt:lpstr>Public Sans SemiBold</vt:lpstr>
      <vt:lpstr>Public Sans Bold</vt:lpstr>
      <vt:lpstr>Source Sans 3</vt:lpstr>
      <vt:lpstr>Arial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Dorian NJAMI</cp:lastModifiedBy>
  <cp:revision>3</cp:revision>
  <dcterms:created xsi:type="dcterms:W3CDTF">2026-10-17T17:33:23Z</dcterms:created>
  <dcterms:modified xsi:type="dcterms:W3CDTF">2026-10-17T17:36:05Z</dcterms:modified>
</cp:coreProperties>
</file>